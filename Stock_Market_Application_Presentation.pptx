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457200"/>
            <a:ext cx="137160" cy="5943600"/>
          </a:xfrm>
          <a:prstGeom prst="rect">
            <a:avLst/>
          </a:prstGeom>
          <a:solidFill>
            <a:srgbClr val="3182CE"/>
          </a:solidFill>
          <a:ln/>
        </p:spPr>
      </p:sp>
      <p:sp>
        <p:nvSpPr>
          <p:cNvPr id="3" name="Text 1"/>
          <p:cNvSpPr/>
          <p:nvPr/>
        </p:nvSpPr>
        <p:spPr>
          <a:xfrm>
            <a:off x="914400" y="1645920"/>
            <a:ext cx="10332720" cy="914400"/>
          </a:xfrm>
          <a:prstGeom prst="rect">
            <a:avLst/>
          </a:prstGeom>
          <a:noFill/>
          <a:ln/>
        </p:spPr>
        <p:txBody>
          <a:bodyPr wrap="square" rtlCol="0" anchor="ctr"/>
          <a:lstStyle/>
          <a:p>
            <a:pPr indent="0" marL="0">
              <a:buNone/>
            </a:pPr>
            <a:r>
              <a:rPr lang="en-US" sz="4200" b="1" dirty="0">
                <a:solidFill>
                  <a:srgbClr val="FFFFFF"/>
                </a:solidFill>
                <a:latin typeface="Calibri" pitchFamily="34" charset="0"/>
                <a:ea typeface="Calibri" pitchFamily="34" charset="-122"/>
                <a:cs typeface="Calibri" pitchFamily="34" charset="-120"/>
              </a:rPr>
              <a:t>STOCK MARKET TRADING PLATFORM</a:t>
            </a:r>
            <a:endParaRPr lang="en-US" sz="4200" dirty="0"/>
          </a:p>
        </p:txBody>
      </p:sp>
      <p:sp>
        <p:nvSpPr>
          <p:cNvPr id="4" name="Text 2"/>
          <p:cNvSpPr/>
          <p:nvPr/>
        </p:nvSpPr>
        <p:spPr>
          <a:xfrm>
            <a:off x="914400" y="2560320"/>
            <a:ext cx="10332720" cy="548640"/>
          </a:xfrm>
          <a:prstGeom prst="rect">
            <a:avLst/>
          </a:prstGeom>
          <a:noFill/>
          <a:ln/>
        </p:spPr>
        <p:txBody>
          <a:bodyPr wrap="square" rtlCol="0" anchor="ctr"/>
          <a:lstStyle/>
          <a:p>
            <a:pPr indent="0" marL="0">
              <a:buNone/>
            </a:pPr>
            <a:r>
              <a:rPr lang="en-US" sz="2000" b="1" dirty="0">
                <a:solidFill>
                  <a:srgbClr val="3182CE"/>
                </a:solidFill>
                <a:latin typeface="Calibri" pitchFamily="34" charset="0"/>
                <a:ea typeface="Calibri" pitchFamily="34" charset="-122"/>
                <a:cs typeface="Calibri" pitchFamily="34" charset="-120"/>
              </a:rPr>
              <a:t>A Secure, Real-Time Portfolio &amp; Wallet Application</a:t>
            </a:r>
            <a:endParaRPr lang="en-US" sz="2000" dirty="0"/>
          </a:p>
        </p:txBody>
      </p:sp>
      <p:sp>
        <p:nvSpPr>
          <p:cNvPr id="5" name="Text 3"/>
          <p:cNvSpPr/>
          <p:nvPr/>
        </p:nvSpPr>
        <p:spPr>
          <a:xfrm>
            <a:off x="914400" y="3474720"/>
            <a:ext cx="10332720" cy="914400"/>
          </a:xfrm>
          <a:prstGeom prst="rect">
            <a:avLst/>
          </a:prstGeom>
          <a:noFill/>
          <a:ln/>
        </p:spPr>
        <p:txBody>
          <a:bodyPr wrap="square" rtlCol="0" anchor="ctr"/>
          <a:lstStyle/>
          <a:p>
            <a:pPr indent="0" marL="0">
              <a:buNone/>
            </a:pPr>
            <a:r>
              <a:rPr lang="en-US" sz="1400" dirty="0">
                <a:solidFill>
                  <a:srgbClr val="A0AEC0"/>
                </a:solidFill>
                <a:latin typeface="Calibri" pitchFamily="34" charset="0"/>
                <a:ea typeface="Calibri" pitchFamily="34" charset="-122"/>
                <a:cs typeface="Calibri" pitchFamily="34" charset="-120"/>
              </a:rPr>
              <a:t>Production-Ready Implementation using PHP 8.2, Docker, MySQL, and Render</a:t>
            </a:r>
            <a:endParaRPr lang="en-US" sz="1400" dirty="0"/>
          </a:p>
          <a:p>
            <a:pPr indent="0" marL="0">
              <a:buNone/>
            </a:pPr>
            <a:r>
              <a:rPr lang="en-US" sz="1400" dirty="0">
                <a:solidFill>
                  <a:srgbClr val="A0AEC0"/>
                </a:solidFill>
                <a:latin typeface="Calibri" pitchFamily="34" charset="0"/>
                <a:ea typeface="Calibri" pitchFamily="34" charset="-122"/>
                <a:cs typeface="Calibri" pitchFamily="34" charset="-120"/>
              </a:rPr>
              <a:t>Complete Security Audited Deployment Walkthrough</a:t>
            </a:r>
            <a:endParaRPr lang="en-US" sz="1400" dirty="0"/>
          </a:p>
        </p:txBody>
      </p:sp>
      <p:sp>
        <p:nvSpPr>
          <p:cNvPr id="6" name="Text 4"/>
          <p:cNvSpPr/>
          <p:nvPr/>
        </p:nvSpPr>
        <p:spPr>
          <a:xfrm>
            <a:off x="914400" y="5303520"/>
            <a:ext cx="4572000" cy="36576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PROJECT PRESENTATION  |  PAGE 1 OF 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INTRODUCTION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PRESENTATION AGENDA</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2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SECTION 1: OVERVIEW &amp; ARCHITECTURE</a:t>
            </a:r>
            <a:endParaRPr lang="en-US" sz="1400" dirty="0"/>
          </a:p>
        </p:txBody>
      </p:sp>
      <p:sp>
        <p:nvSpPr>
          <p:cNvPr id="10" name="Text 8"/>
          <p:cNvSpPr/>
          <p:nvPr/>
        </p:nvSpPr>
        <p:spPr>
          <a:xfrm>
            <a:off x="731520" y="2011680"/>
            <a:ext cx="4846320" cy="3657600"/>
          </a:xfrm>
          <a:prstGeom prst="rect">
            <a:avLst/>
          </a:prstGeom>
          <a:noFill/>
          <a:ln/>
        </p:spPr>
        <p:txBody>
          <a:bodyPr wrap="square" rtlCol="0" anchor="ctr"/>
          <a:lstStyle/>
          <a:p>
            <a:pPr indent="0" marL="0">
              <a:lnSpc>
                <a:spcPts val="2600"/>
              </a:lnSpc>
              <a:buNone/>
            </a:pPr>
            <a:r>
              <a:rPr lang="en-US" sz="1300" dirty="0">
                <a:solidFill>
                  <a:srgbClr val="FFFFFF"/>
                </a:solidFill>
              </a:rPr>
              <a:t>• Executive Summary &amp; Project Vision
</a:t>
            </a:r>
            <a:pPr indent="0" marL="0">
              <a:lnSpc>
                <a:spcPts val="2600"/>
              </a:lnSpc>
              <a:buNone/>
            </a:pPr>
            <a:r>
              <a:rPr lang="en-US" sz="1300" dirty="0">
                <a:solidFill>
                  <a:srgbClr val="FFFFFF"/>
                </a:solidFill>
              </a:rPr>
              <a:t>• Traditional Platform Vulnerabilities &amp; Issues
</a:t>
            </a:r>
            <a:pPr indent="0" marL="0">
              <a:lnSpc>
                <a:spcPts val="2600"/>
              </a:lnSpc>
              <a:buNone/>
            </a:pPr>
            <a:r>
              <a:rPr lang="en-US" sz="1300" dirty="0">
                <a:solidFill>
                  <a:srgbClr val="FFFFFF"/>
                </a:solidFill>
              </a:rPr>
              <a:t>• Secure PHP System Implementations
</a:t>
            </a:r>
            <a:pPr indent="0" marL="0">
              <a:lnSpc>
                <a:spcPts val="2600"/>
              </a:lnSpc>
              <a:buNone/>
            </a:pPr>
            <a:r>
              <a:rPr lang="en-US" sz="1300" dirty="0">
                <a:solidFill>
                  <a:srgbClr val="FFFFFF"/>
                </a:solidFill>
              </a:rPr>
              <a:t>• Key Capabilities &amp; Operational Features
</a:t>
            </a:r>
            <a:pPr indent="0" marL="0">
              <a:lnSpc>
                <a:spcPts val="2600"/>
              </a:lnSpc>
              <a:buNone/>
            </a:pPr>
            <a:r>
              <a:rPr lang="en-US" sz="1300" dirty="0">
                <a:solidFill>
                  <a:srgbClr val="FFFFFF"/>
                </a:solidFill>
              </a:rPr>
              <a:t>• Comprehensive Technology Stack Layers
</a:t>
            </a:r>
            <a:pPr indent="0" marL="0">
              <a:lnSpc>
                <a:spcPts val="2600"/>
              </a:lnSpc>
              <a:buNone/>
            </a:pPr>
            <a:r>
              <a:rPr lang="en-US" sz="1300" dirty="0">
                <a:solidFill>
                  <a:srgbClr val="FFFFFF"/>
                </a:solidFill>
              </a:rPr>
              <a:t>• Database Relational Schema normalization</a:t>
            </a:r>
            <a:endParaRPr lang="en-US" sz="13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SECTION 2: WALKTHROUGH &amp; HARDENING</a:t>
            </a:r>
            <a:endParaRPr lang="en-US" sz="1400" dirty="0"/>
          </a:p>
        </p:txBody>
      </p:sp>
      <p:sp>
        <p:nvSpPr>
          <p:cNvPr id="13" name="Text 11"/>
          <p:cNvSpPr/>
          <p:nvPr/>
        </p:nvSpPr>
        <p:spPr>
          <a:xfrm>
            <a:off x="6611112" y="2011680"/>
            <a:ext cx="4846320" cy="3657600"/>
          </a:xfrm>
          <a:prstGeom prst="rect">
            <a:avLst/>
          </a:prstGeom>
          <a:noFill/>
          <a:ln/>
        </p:spPr>
        <p:txBody>
          <a:bodyPr wrap="square" rtlCol="0" anchor="ctr"/>
          <a:lstStyle/>
          <a:p>
            <a:pPr indent="0" marL="0">
              <a:lnSpc>
                <a:spcPts val="2200"/>
              </a:lnSpc>
              <a:buNone/>
            </a:pPr>
            <a:r>
              <a:rPr lang="en-US" sz="1300" dirty="0">
                <a:solidFill>
                  <a:srgbClr val="FFFFFF"/>
                </a:solidFill>
              </a:rPr>
              <a:t>• Core Features walkthrough (Login, Explorer, Wallet)
</a:t>
            </a:r>
            <a:pPr indent="0" marL="0">
              <a:lnSpc>
                <a:spcPts val="2200"/>
              </a:lnSpc>
              <a:buNone/>
            </a:pPr>
            <a:r>
              <a:rPr lang="en-US" sz="1300" dirty="0">
                <a:solidFill>
                  <a:srgbClr val="FFFFFF"/>
                </a:solidFill>
              </a:rPr>
              <a:t>• Project UI Snapshots &amp; Live Dashboards
</a:t>
            </a:r>
            <a:pPr indent="0" marL="0">
              <a:lnSpc>
                <a:spcPts val="2200"/>
              </a:lnSpc>
              <a:buNone/>
            </a:pPr>
            <a:r>
              <a:rPr lang="en-US" sz="1300" dirty="0">
                <a:solidFill>
                  <a:srgbClr val="FFFFFF"/>
                </a:solidFill>
              </a:rPr>
              <a:t>• Razorpay Checkout Payment Flow Integration
</a:t>
            </a:r>
            <a:pPr indent="0" marL="0">
              <a:lnSpc>
                <a:spcPts val="2200"/>
              </a:lnSpc>
              <a:buNone/>
            </a:pPr>
            <a:r>
              <a:rPr lang="en-US" sz="1300" dirty="0">
                <a:solidFill>
                  <a:srgbClr val="FFFFFF"/>
                </a:solidFill>
              </a:rPr>
              <a:t>• Transaction History &amp; Ledger Security
</a:t>
            </a:r>
            <a:pPr indent="0" marL="0">
              <a:lnSpc>
                <a:spcPts val="2200"/>
              </a:lnSpc>
              <a:buNone/>
            </a:pPr>
            <a:r>
              <a:rPr lang="en-US" sz="1300" dirty="0">
                <a:solidFill>
                  <a:srgbClr val="FFFFFF"/>
                </a:solidFill>
              </a:rPr>
              <a:t>• Security Hardening (SQLi, Sessions, HSTS)
</a:t>
            </a:r>
            <a:pPr indent="0" marL="0">
              <a:lnSpc>
                <a:spcPts val="2200"/>
              </a:lnSpc>
              <a:buNone/>
            </a:pPr>
            <a:r>
              <a:rPr lang="en-US" sz="1300" dirty="0">
                <a:solidFill>
                  <a:srgbClr val="FFFFFF"/>
                </a:solidFill>
              </a:rPr>
              <a:t>• DevOps containerization (Docker, Render PaaS)
</a:t>
            </a:r>
            <a:pPr indent="0" marL="0">
              <a:lnSpc>
                <a:spcPts val="2200"/>
              </a:lnSpc>
              <a:buNone/>
            </a:pPr>
            <a:r>
              <a:rPr lang="en-US" sz="1300" dirty="0">
                <a:solidFill>
                  <a:srgbClr val="FFFFFF"/>
                </a:solidFill>
              </a:rPr>
              <a:t>• Future Engineering Roadmap &amp; Milestones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OVERVIEW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EXECUTIVE SUMMARY &amp; VISION</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3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THE PLATFORM VISION</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lnSpc>
                <a:spcPts val="2400"/>
              </a:lnSpc>
              <a:buNone/>
            </a:pPr>
            <a:r>
              <a:rPr lang="en-US" sz="1300" dirty="0">
                <a:solidFill>
                  <a:srgbClr val="A0AEC0"/>
                </a:solidFill>
                <a:latin typeface="Calibri" pitchFamily="34" charset="0"/>
                <a:ea typeface="Calibri" pitchFamily="34" charset="-122"/>
                <a:cs typeface="Calibri" pitchFamily="34" charset="-120"/>
              </a:rPr>
              <a:t>Our project is designed to democratize stock trading education by providing a secure, high-fidelity mock trading platform. Users can search for live ticker codes, inspect dynamic profiles, manage stock portfolios, and credit accounts dynamically. The primary objective is to replicate actual retail brokerage environments with robust safety measures.</a:t>
            </a:r>
            <a:endParaRPr lang="en-US" sz="13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ARCHITECTURAL PRINCIPLES</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Modern PHP 8.2 Execution: Utilizing strong runtime typing and secure extensions.
</a:t>
            </a:r>
            <a:pPr indent="0" marL="0">
              <a:buNone/>
            </a:pPr>
            <a:r>
              <a:rPr lang="en-US" sz="1200" dirty="0">
                <a:solidFill>
                  <a:srgbClr val="FFFFFF"/>
                </a:solidFill>
              </a:rPr>
              <a:t>• Parametrized DB Layer: Absolute elimination of inline SQL strings to isolate data pools.
</a:t>
            </a:r>
            <a:pPr indent="0" marL="0">
              <a:buNone/>
            </a:pPr>
            <a:r>
              <a:rPr lang="en-US" sz="1200" dirty="0">
                <a:solidFill>
                  <a:srgbClr val="FFFFFF"/>
                </a:solidFill>
              </a:rPr>
              <a:t>• Decoupled Environment: Credentials separated completely from codebase structures.
</a:t>
            </a:r>
            <a:pPr indent="0" marL="0">
              <a:buNone/>
            </a:pPr>
            <a:r>
              <a:rPr lang="en-US" sz="1200" dirty="0">
                <a:solidFill>
                  <a:srgbClr val="FFFFFF"/>
                </a:solidFill>
              </a:rPr>
              <a:t>• Containerization First: Reliable Docker runtime layers for reproducible deployments.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OVERVIEW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TARGET AUDIENCE &amp; MARKET RELEVANCE</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4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TARGET AUDIENCE</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1. Retail Trading Beginners: Individuals seeking hands-on exposure to portfolio balancing without financial risk.
</a:t>
            </a:r>
            <a:pPr indent="0" marL="0">
              <a:buNone/>
            </a:pPr>
            <a:r>
              <a:rPr lang="en-US" sz="1200" dirty="0">
                <a:solidFill>
                  <a:srgbClr val="FFFFFF"/>
                </a:solidFill>
              </a:rPr>
              <a:t>2. Student &amp; Academic Groups: Standardized platform for academic stock market games or coding studies.
</a:t>
            </a:r>
            <a:pPr indent="0" marL="0">
              <a:buNone/>
            </a:pPr>
            <a:r>
              <a:rPr lang="en-US" sz="1200" dirty="0">
                <a:solidFill>
                  <a:srgbClr val="FFFFFF"/>
                </a:solidFill>
              </a:rPr>
              <a:t>3. Systems Engineering Learners: Demonstration of secure server side PHP scripts, payment validation, and Docker setups.</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MARKET RELEVANCE &amp; NEED</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lnSpc>
                <a:spcPts val="2400"/>
              </a:lnSpc>
              <a:buNone/>
            </a:pPr>
            <a:r>
              <a:rPr lang="en-US" sz="1300" dirty="0">
                <a:solidFill>
                  <a:srgbClr val="A0AEC0"/>
                </a:solidFill>
                <a:latin typeface="Calibri" pitchFamily="34" charset="0"/>
                <a:ea typeface="Calibri" pitchFamily="34" charset="-122"/>
                <a:cs typeface="Calibri" pitchFamily="34" charset="-120"/>
              </a:rPr>
              <a:t>Traditional trading applications require actual capital deployment, presenting high barriers to entry. Conversely, existing mock systems are frequently insecure, poorly written, or difficult to deploy locally. This project delivers an open-source, highly audited, and secure blueprint for web-based finance systems.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PROBLEM STATEMENT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TRADITIONAL TRADING SYSTEM FLAWS</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5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SECURITY VULNERABILITIES</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Raw SQL Concatenation: Leads to SQL injection attacks that compromise user data and balances.
</a:t>
            </a:r>
            <a:pPr indent="0" marL="0">
              <a:buNone/>
            </a:pPr>
            <a:r>
              <a:rPr lang="en-US" sz="1200" dirty="0">
                <a:solidFill>
                  <a:srgbClr val="FFFFFF"/>
                </a:solidFill>
              </a:rPr>
              <a:t>• Weak Password Storage: Storing plain text or MD5 hashes vulnerable to reverse lookup tables.
</a:t>
            </a:r>
            <a:pPr indent="0" marL="0">
              <a:buNone/>
            </a:pPr>
            <a:r>
              <a:rPr lang="en-US" sz="1200" dirty="0">
                <a:solidFill>
                  <a:srgbClr val="FFFFFF"/>
                </a:solidFill>
              </a:rPr>
              <a:t>• Exposed Environment Details: Placing credentials (DB passwords, API keys) directly in version control systems.</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OPERATIONAL INCONSISTENCIES</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Insecure Sessions: Intermittent session checks resulting in dynamic state drift or unauthorized bypasses.
</a:t>
            </a:r>
            <a:pPr indent="0" marL="0">
              <a:buNone/>
            </a:pPr>
            <a:r>
              <a:rPr lang="en-US" sz="1200" dirty="0">
                <a:solidFill>
                  <a:srgbClr val="FFFFFF"/>
                </a:solidFill>
              </a:rPr>
              <a:t>• Inadequate Input Sanitization: Empty database inserts and unvalidated integer fields breaking application calculations.
</a:t>
            </a:r>
            <a:pPr indent="0" marL="0">
              <a:buNone/>
            </a:pPr>
            <a:r>
              <a:rPr lang="en-US" sz="1200" dirty="0">
                <a:solidFill>
                  <a:srgbClr val="FFFFFF"/>
                </a:solidFill>
              </a:rPr>
              <a:t>• Setup Disparity: Complex installation scripts which break across different versions of PHP or local web server architectures.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SOLUTION OVERVIEW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SECURE APPLICATION ARCHITECTURE</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6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CODE LEVEL SECURITY</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PDO Prepared Statements: Parameter binding enforced across index.php, signup.php, and selectedStock.php.
</a:t>
            </a:r>
            <a:pPr indent="0" marL="0">
              <a:buNone/>
            </a:pPr>
            <a:r>
              <a:rPr lang="en-US" sz="1200" dirty="0">
                <a:solidFill>
                  <a:srgbClr val="FFFFFF"/>
                </a:solidFill>
              </a:rPr>
              <a:t>• Bcrypt Encrypted Hashes: Strong cost factors utilizing standard PHP security functions.
</a:t>
            </a:r>
            <a:pPr indent="0" marL="0">
              <a:buNone/>
            </a:pPr>
            <a:r>
              <a:rPr lang="en-US" sz="1200" dirty="0">
                <a:solidFill>
                  <a:srgbClr val="FFFFFF"/>
                </a:solidFill>
              </a:rPr>
              <a:t>• Strict Sessioning Checks: Session variables validated securely before render pipelines execute.</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SERVER LEVEL INFRASTRUCTURE</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Security Headers: MIME Sniffing protection, frame constraints, and HSTS setups configured via .htaccess.
</a:t>
            </a:r>
            <a:pPr indent="0" marL="0">
              <a:buNone/>
            </a:pPr>
            <a:r>
              <a:rPr lang="en-US" sz="1200" dirty="0">
                <a:solidFill>
                  <a:srgbClr val="FFFFFF"/>
                </a:solidFill>
              </a:rPr>
              <a:t>• Docker Deployments: Custom Dockerfile capturing required extensions, configs, and directory hierarchies.
</a:t>
            </a:r>
            <a:pPr indent="0" marL="0">
              <a:buNone/>
            </a:pPr>
            <a:r>
              <a:rPr lang="en-US" sz="1200" dirty="0">
                <a:solidFill>
                  <a:srgbClr val="FFFFFF"/>
                </a:solidFill>
              </a:rPr>
              <a:t>• Config Isolation: Integration of .env structures, shielding deployment parameters from GitHub public records.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SOLUTION OVERVIEW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KEY PLATFORM CAPABILITIES</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7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TRADING OPERATIONS</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Live Ticker Explorer: Real-time queries linking directly to buying templates.
</a:t>
            </a:r>
            <a:pPr indent="0" marL="0">
              <a:buNone/>
            </a:pPr>
            <a:r>
              <a:rPr lang="en-US" sz="1200" dirty="0">
                <a:solidFill>
                  <a:srgbClr val="FFFFFF"/>
                </a:solidFill>
              </a:rPr>
              <a:t>• Virtual Portfolio: Live balance checking, quantity calculation, and cost averages mapping.
</a:t>
            </a:r>
            <a:pPr indent="0" marL="0">
              <a:buNone/>
            </a:pPr>
            <a:r>
              <a:rPr lang="en-US" sz="1200" dirty="0">
                <a:solidFill>
                  <a:srgbClr val="FFFFFF"/>
                </a:solidFill>
              </a:rPr>
              <a:t>• Dynamic Watchlist: Pinned symbol arrays for quick lookup capabilities.</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TRANSACTION SECURITY</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Razorpay Checkout integration: Client side payment overlay triggering secure merchant checkout flows.
</a:t>
            </a:r>
            <a:pPr indent="0" marL="0">
              <a:buNone/>
            </a:pPr>
            <a:r>
              <a:rPr lang="en-US" sz="1200" dirty="0">
                <a:solidFill>
                  <a:srgbClr val="FFFFFF"/>
                </a:solidFill>
              </a:rPr>
              <a:t>• Server Signature Verification: Cryptographic hash match validation before crediting balances.
</a:t>
            </a:r>
            <a:pPr indent="0" marL="0">
              <a:buNone/>
            </a:pPr>
            <a:r>
              <a:rPr lang="en-US" sz="1200" dirty="0">
                <a:solidFill>
                  <a:srgbClr val="FFFFFF"/>
                </a:solidFill>
              </a:rPr>
              <a:t>• Ledger Records: Immutable records documenting transaction steps, IDs, and type indicators.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TECHNOLOGY STACK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FRONTEND TECHNOLOGY LAYER</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8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CORE TECHNOLOGIES</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Semantic HTML5: Optimized DOM layout mapping.
</a:t>
            </a:r>
            <a:pPr indent="0" marL="0">
              <a:buNone/>
            </a:pPr>
            <a:r>
              <a:rPr lang="en-US" sz="1200" dirty="0">
                <a:solidFill>
                  <a:srgbClr val="FFFFFF"/>
                </a:solidFill>
              </a:rPr>
              <a:t>• Custom Vanilla CSS: High performance responsive layouts built with cards and custom components.
</a:t>
            </a:r>
            <a:pPr indent="0" marL="0">
              <a:buNone/>
            </a:pPr>
            <a:r>
              <a:rPr lang="en-US" sz="1200" dirty="0">
                <a:solidFill>
                  <a:srgbClr val="FFFFFF"/>
                </a:solidFill>
              </a:rPr>
              <a:t>• Vanilla JavaScript: Low overhead browser interaction controllers and form validation procedures.</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USER EXPERIENCE FEATURES</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Inline Charts: Rendering of trend lines for selected stocks.
</a:t>
            </a:r>
            <a:pPr indent="0" marL="0">
              <a:buNone/>
            </a:pPr>
            <a:r>
              <a:rPr lang="en-US" sz="1200" dirty="0">
                <a:solidFill>
                  <a:srgbClr val="FFFFFF"/>
                </a:solidFill>
              </a:rPr>
              <a:t>• Payment Overlays: Native Razorpay Checkout modal.
</a:t>
            </a:r>
            <a:pPr indent="0" marL="0">
              <a:buNone/>
            </a:pPr>
            <a:r>
              <a:rPr lang="en-US" sz="1200" dirty="0">
                <a:solidFill>
                  <a:srgbClr val="FFFFFF"/>
                </a:solidFill>
              </a:rPr>
              <a:t>• Status Indicators: Dynamic color coding of portfolio profit/loss values (green for gains, red for losses).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TECHNOLOGY STACK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BACKEND TECHNOLOGY LAYER</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9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PHP RUNTIME SERVICES</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PHP 8.2+ Compatibility: Written to work cleanly with strict syntax constraints.
</a:t>
            </a:r>
            <a:pPr indent="0" marL="0">
              <a:buNone/>
            </a:pPr>
            <a:r>
              <a:rPr lang="en-US" sz="1200" dirty="0">
                <a:solidFill>
                  <a:srgbClr val="FFFFFF"/>
                </a:solidFill>
              </a:rPr>
              <a:t>• PDO MySQL Extension: Utilized exclusively to prevent injection vectors.
</a:t>
            </a:r>
            <a:pPr indent="0" marL="0">
              <a:buNone/>
            </a:pPr>
            <a:r>
              <a:rPr lang="en-US" sz="1200" dirty="0">
                <a:solidFill>
                  <a:srgbClr val="FFFFFF"/>
                </a:solidFill>
              </a:rPr>
              <a:t>• Native Session Handlers: State preservation using cookies and secure files.</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DATA INTEGRATION &amp; UTILITIES</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Live API Connections: Handles data fetches from global market APIs.
</a:t>
            </a:r>
            <a:pPr indent="0" marL="0">
              <a:buNone/>
            </a:pPr>
            <a:r>
              <a:rPr lang="en-US" sz="1200" dirty="0">
                <a:solidFill>
                  <a:srgbClr val="FFFFFF"/>
                </a:solidFill>
              </a:rPr>
              <a:t>• Environment Reader: Simple emulation parses `.env` configurations safely.
</a:t>
            </a:r>
            <a:pPr indent="0" marL="0">
              <a:buNone/>
            </a:pPr>
            <a:r>
              <a:rPr lang="en-US" sz="1200" dirty="0">
                <a:solidFill>
                  <a:srgbClr val="FFFFFF"/>
                </a:solidFill>
              </a:rPr>
              <a:t>• Error Handlers: Intercepts connection issues, redirecting them to system log outputs.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TECHNOLOGY STACK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DATABASE &amp; INFRASTRUCTURE LAYER</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10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DATABASE LAYER</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MySQL 5.7+ / MariaDB engine.
</a:t>
            </a:r>
            <a:pPr indent="0" marL="0">
              <a:buNone/>
            </a:pPr>
            <a:r>
              <a:rPr lang="en-US" sz="1200" dirty="0">
                <a:solidFill>
                  <a:srgbClr val="FFFFFF"/>
                </a:solidFill>
              </a:rPr>
              <a:t>• Normalized schema design ensuring transactional ACID compliance.
</a:t>
            </a:r>
            <a:pPr indent="0" marL="0">
              <a:buNone/>
            </a:pPr>
            <a:r>
              <a:rPr lang="en-US" sz="1200" dirty="0">
                <a:solidFill>
                  <a:srgbClr val="FFFFFF"/>
                </a:solidFill>
              </a:rPr>
              <a:t>• Primary/Foreign key constraints protecting relational links between transactions, portfolios, and users.</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INFRASTRUCTURE &amp; HOSTING</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Apache web server layer with customized headers.
</a:t>
            </a:r>
            <a:pPr indent="0" marL="0">
              <a:buNone/>
            </a:pPr>
            <a:r>
              <a:rPr lang="en-US" sz="1200" dirty="0">
                <a:solidFill>
                  <a:srgbClr val="FFFFFF"/>
                </a:solidFill>
              </a:rPr>
              <a:t>• Docker encapsulation with multi stage compilation support.
</a:t>
            </a:r>
            <a:pPr indent="0" marL="0">
              <a:buNone/>
            </a:pPr>
            <a:r>
              <a:rPr lang="en-US" sz="1200" dirty="0">
                <a:solidFill>
                  <a:srgbClr val="FFFFFF"/>
                </a:solidFill>
              </a:rPr>
              <a:t>• Render Cloud: Deployed via connected GitHub repository triggers.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CORE FEATURES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SECURE USER LOGIN &amp; AUTH FLOW</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11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AUTHENTICATION MECHANISM</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Safe Validation: Form values trimmed, sanitized, and matched against users table.
</a:t>
            </a:r>
            <a:pPr indent="0" marL="0">
              <a:buNone/>
            </a:pPr>
            <a:r>
              <a:rPr lang="en-US" sz="1200" dirty="0">
                <a:solidFill>
                  <a:srgbClr val="FFFFFF"/>
                </a:solidFill>
              </a:rPr>
              <a:t>• Cryptographic Check: Matches stored Bcrypt hash using php's verified verification function.
</a:t>
            </a:r>
            <a:pPr indent="0" marL="0">
              <a:buNone/>
            </a:pPr>
            <a:r>
              <a:rPr lang="en-US" sz="1200" dirty="0">
                <a:solidFill>
                  <a:srgbClr val="FFFFFF"/>
                </a:solidFill>
              </a:rPr>
              <a:t>• Access Controls: Redirects unauthorized requests automatically back to index.php.</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SESSION CONFIGURATIONS</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Session ID Regeneration: Guards against session hijacking.
</a:t>
            </a:r>
            <a:pPr indent="0" marL="0">
              <a:buNone/>
            </a:pPr>
            <a:r>
              <a:rPr lang="en-US" sz="1200" dirty="0">
                <a:solidFill>
                  <a:srgbClr val="FFFFFF"/>
                </a:solidFill>
              </a:rPr>
              <a:t>• Secure Parameters: Enforces session cookie security tags.
</a:t>
            </a:r>
            <a:pPr indent="0" marL="0">
              <a:buNone/>
            </a:pPr>
            <a:r>
              <a:rPr lang="en-US" sz="1200" dirty="0">
                <a:solidFill>
                  <a:srgbClr val="FFFFFF"/>
                </a:solidFill>
              </a:rPr>
              <a:t>• Clear Terminations: signOut.php destroys session files completely, preventing cache back-navigation attacks.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PROJECT SNAPSHOT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SECURE LOGIN INTERFACE MOCKUP</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12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3200400" cy="4663440"/>
          </a:xfrm>
          <a:prstGeom prst="roundRect">
            <a:avLst>
              <a:gd name="adj" fmla="val 1429"/>
            </a:avLst>
          </a:prstGeom>
          <a:solidFill>
            <a:srgbClr val="151D2A"/>
          </a:solidFill>
          <a:ln/>
        </p:spPr>
      </p:sp>
      <p:sp>
        <p:nvSpPr>
          <p:cNvPr id="9" name="Text 7"/>
          <p:cNvSpPr/>
          <p:nvPr/>
        </p:nvSpPr>
        <p:spPr>
          <a:xfrm>
            <a:off x="640080" y="1463040"/>
            <a:ext cx="283464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INTERFACE FEATURES</a:t>
            </a:r>
            <a:endParaRPr lang="en-US" sz="1400" dirty="0"/>
          </a:p>
        </p:txBody>
      </p:sp>
      <p:sp>
        <p:nvSpPr>
          <p:cNvPr id="10" name="Text 8"/>
          <p:cNvSpPr/>
          <p:nvPr/>
        </p:nvSpPr>
        <p:spPr>
          <a:xfrm>
            <a:off x="640080" y="2011680"/>
            <a:ext cx="2834640" cy="3657600"/>
          </a:xfrm>
          <a:prstGeom prst="rect">
            <a:avLst/>
          </a:prstGeom>
          <a:noFill/>
          <a:ln/>
        </p:spPr>
        <p:txBody>
          <a:bodyPr wrap="square" rtlCol="0" anchor="ctr"/>
          <a:lstStyle/>
          <a:p>
            <a:pPr indent="0" marL="0">
              <a:lnSpc>
                <a:spcPts val="2200"/>
              </a:lnSpc>
              <a:buNone/>
            </a:pPr>
            <a:r>
              <a:rPr lang="en-US" sz="1200" dirty="0">
                <a:solidFill>
                  <a:srgbClr val="A0AEC0"/>
                </a:solidFill>
                <a:latin typeface="Calibri" pitchFamily="34" charset="0"/>
                <a:ea typeface="Calibri" pitchFamily="34" charset="-122"/>
                <a:cs typeface="Calibri" pitchFamily="34" charset="-120"/>
              </a:rPr>
              <a:t>The secure login portal is designed with a premium, minimalist card template. It implements strict validation notices, supports credential masking, and prevents username enumeration by utilizing generic error responses.</a:t>
            </a:r>
            <a:endParaRPr lang="en-US" sz="1200" dirty="0"/>
          </a:p>
        </p:txBody>
      </p:sp>
      <p:sp>
        <p:nvSpPr>
          <p:cNvPr id="11" name="Shape 9"/>
          <p:cNvSpPr/>
          <p:nvPr/>
        </p:nvSpPr>
        <p:spPr>
          <a:xfrm>
            <a:off x="3931920" y="1280160"/>
            <a:ext cx="7799832" cy="4663440"/>
          </a:xfrm>
          <a:prstGeom prst="roundRect">
            <a:avLst>
              <a:gd name="adj" fmla="val 980"/>
            </a:avLst>
          </a:prstGeom>
          <a:solidFill>
            <a:srgbClr val="151D2A"/>
          </a:solidFill>
          <a:ln/>
        </p:spPr>
      </p:sp>
      <p:pic>
        <p:nvPicPr>
          <p:cNvPr id="12" name="Image 0" descr="C:/Users/Sneh Patel/.gemini/antigravity/brain/a623fd9b-dba2-45f3-9a09-53f597b986c4/login_ui_mockup_1785991609155.jpg">    </p:cNvPr>
          <p:cNvPicPr>
            <a:picLocks noChangeAspect="1"/>
          </p:cNvPicPr>
          <p:nvPr/>
        </p:nvPicPr>
        <p:blipFill>
          <a:blip r:embed="rId1"/>
          <a:stretch>
            <a:fillRect/>
          </a:stretch>
        </p:blipFill>
        <p:spPr>
          <a:xfrm>
            <a:off x="4023360" y="1371600"/>
            <a:ext cx="7616952" cy="44805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CORE FEATURES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PORTFOLIO MANAGEMENT &amp; WALLET</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13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PORTFOLIO OPERATIONS</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Dynamic Calculations: Aggregates stock holdings to report current total asset valuation in real-time.
</a:t>
            </a:r>
            <a:pPr indent="0" marL="0">
              <a:buNone/>
            </a:pPr>
            <a:r>
              <a:rPr lang="en-US" sz="1200" dirty="0">
                <a:solidFill>
                  <a:srgbClr val="FFFFFF"/>
                </a:solidFill>
              </a:rPr>
              <a:t>• Position Breakdown: Details stock symbol, shares owned, purchase cost average, and live performance metrics.
</a:t>
            </a:r>
            <a:pPr indent="0" marL="0">
              <a:buNone/>
            </a:pPr>
            <a:r>
              <a:rPr lang="en-US" sz="1200" dirty="0">
                <a:solidFill>
                  <a:srgbClr val="FFFFFF"/>
                </a:solidFill>
              </a:rPr>
              <a:t>• Status Highlighting: Employs contextual color tags to distinguish realized gains from active holdings.</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WALLET CONFIGURATIONS</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Liquid Balance: Renders available balance ready to execute buy actions.
</a:t>
            </a:r>
            <a:pPr indent="0" marL="0">
              <a:buNone/>
            </a:pPr>
            <a:r>
              <a:rPr lang="en-US" sz="1200" dirty="0">
                <a:solidFill>
                  <a:srgbClr val="FFFFFF"/>
                </a:solidFill>
              </a:rPr>
              <a:t>• Instant Updates: Computes subtraction of funds on buy actions, and additions on sell completions.
</a:t>
            </a:r>
            <a:pPr indent="0" marL="0">
              <a:buNone/>
            </a:pPr>
            <a:r>
              <a:rPr lang="en-US" sz="1200" dirty="0">
                <a:solidFill>
                  <a:srgbClr val="FFFFFF"/>
                </a:solidFill>
              </a:rPr>
              <a:t>• Safe Checks: Overdraft blocks embedded into portfolio operations to prevent transaction failures.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PROJECT SNAPSHOT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DYNAMIC PORTFOLIO DASHBOARD</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14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3200400" cy="4663440"/>
          </a:xfrm>
          <a:prstGeom prst="roundRect">
            <a:avLst>
              <a:gd name="adj" fmla="val 1429"/>
            </a:avLst>
          </a:prstGeom>
          <a:solidFill>
            <a:srgbClr val="151D2A"/>
          </a:solidFill>
          <a:ln/>
        </p:spPr>
      </p:sp>
      <p:sp>
        <p:nvSpPr>
          <p:cNvPr id="9" name="Text 7"/>
          <p:cNvSpPr/>
          <p:nvPr/>
        </p:nvSpPr>
        <p:spPr>
          <a:xfrm>
            <a:off x="640080" y="1463040"/>
            <a:ext cx="283464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DASHBOARD MODULES</a:t>
            </a:r>
            <a:endParaRPr lang="en-US" sz="1400" dirty="0"/>
          </a:p>
        </p:txBody>
      </p:sp>
      <p:sp>
        <p:nvSpPr>
          <p:cNvPr id="10" name="Text 8"/>
          <p:cNvSpPr/>
          <p:nvPr/>
        </p:nvSpPr>
        <p:spPr>
          <a:xfrm>
            <a:off x="640080" y="2011680"/>
            <a:ext cx="2834640" cy="3657600"/>
          </a:xfrm>
          <a:prstGeom prst="rect">
            <a:avLst/>
          </a:prstGeom>
          <a:noFill/>
          <a:ln/>
        </p:spPr>
        <p:txBody>
          <a:bodyPr wrap="square" rtlCol="0" anchor="ctr"/>
          <a:lstStyle/>
          <a:p>
            <a:pPr indent="0" marL="0">
              <a:lnSpc>
                <a:spcPts val="2200"/>
              </a:lnSpc>
              <a:buNone/>
            </a:pPr>
            <a:r>
              <a:rPr lang="en-US" sz="1200" dirty="0">
                <a:solidFill>
                  <a:srgbClr val="A0AEC0"/>
                </a:solidFill>
                <a:latin typeface="Calibri" pitchFamily="34" charset="0"/>
                <a:ea typeface="Calibri" pitchFamily="34" charset="-122"/>
                <a:cs typeface="Calibri" pitchFamily="34" charset="-120"/>
              </a:rPr>
              <a:t>The core trading control board presents the user with active portfolio trend charts, wallet balances, holding cards, and transactional shortcuts. The interface leverages clean cards and distinct green/blue styles to optimize readability.</a:t>
            </a:r>
            <a:endParaRPr lang="en-US" sz="1200" dirty="0"/>
          </a:p>
        </p:txBody>
      </p:sp>
      <p:sp>
        <p:nvSpPr>
          <p:cNvPr id="11" name="Shape 9"/>
          <p:cNvSpPr/>
          <p:nvPr/>
        </p:nvSpPr>
        <p:spPr>
          <a:xfrm>
            <a:off x="3931920" y="1280160"/>
            <a:ext cx="7799832" cy="4663440"/>
          </a:xfrm>
          <a:prstGeom prst="roundRect">
            <a:avLst>
              <a:gd name="adj" fmla="val 980"/>
            </a:avLst>
          </a:prstGeom>
          <a:solidFill>
            <a:srgbClr val="151D2A"/>
          </a:solidFill>
          <a:ln/>
        </p:spPr>
      </p:sp>
      <p:pic>
        <p:nvPicPr>
          <p:cNvPr id="12" name="Image 0" descr="C:/Users/Sneh Patel/.gemini/antigravity/brain/a623fd9b-dba2-45f3-9a09-53f597b986c4/dashboard_ui_mockup_1785991557828.jpg">    </p:cNvPr>
          <p:cNvPicPr>
            <a:picLocks noChangeAspect="1"/>
          </p:cNvPicPr>
          <p:nvPr/>
        </p:nvPicPr>
        <p:blipFill>
          <a:blip r:embed="rId1"/>
          <a:stretch>
            <a:fillRect/>
          </a:stretch>
        </p:blipFill>
        <p:spPr>
          <a:xfrm>
            <a:off x="4023360" y="1371600"/>
            <a:ext cx="7616952" cy="44805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CORE FEATURES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MARKET EXPLORER &amp; STOCK SEARCH</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15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SEARCH SYSTEM LOGIC</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Parameterized Inputs: Sanitizes dynamic ticker query strings.
</a:t>
            </a:r>
            <a:pPr indent="0" marL="0">
              <a:buNone/>
            </a:pPr>
            <a:r>
              <a:rPr lang="en-US" sz="1200" dirty="0">
                <a:solidFill>
                  <a:srgbClr val="FFFFFF"/>
                </a:solidFill>
              </a:rPr>
              <a:t>• Cache Fallback: Employs quick data lookups to speed response cycles.
</a:t>
            </a:r>
            <a:pPr indent="0" marL="0">
              <a:buNone/>
            </a:pPr>
            <a:r>
              <a:rPr lang="en-US" sz="1200" dirty="0">
                <a:solidFill>
                  <a:srgbClr val="FFFFFF"/>
                </a:solidFill>
              </a:rPr>
              <a:t>• Rate Protection: Guards against external API request blockages by enforcing rate mitigations.</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TICKER PROFILE METRICS</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Key Statistics: Renders highs, lows, opens, closes, volumes, and bid-ask parameters.
</a:t>
            </a:r>
            <a:pPr indent="0" marL="0">
              <a:buNone/>
            </a:pPr>
            <a:r>
              <a:rPr lang="en-US" sz="1200" dirty="0">
                <a:solidFill>
                  <a:srgbClr val="FFFFFF"/>
                </a:solidFill>
              </a:rPr>
              <a:t>• Watchlist Shortcuts: One click pin function saving the symbol to the watchlists table.
</a:t>
            </a:r>
            <a:pPr indent="0" marL="0">
              <a:buNone/>
            </a:pPr>
            <a:r>
              <a:rPr lang="en-US" sz="1200" dirty="0">
                <a:solidFill>
                  <a:srgbClr val="FFFFFF"/>
                </a:solidFill>
              </a:rPr>
              <a:t>• Buying Route: Directly loads selectedStock.php with correct parameter IDs.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PROJECT SNAPSHOT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MARKET EXPLORER &amp; SEARCH UI</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16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3200400" cy="4663440"/>
          </a:xfrm>
          <a:prstGeom prst="roundRect">
            <a:avLst>
              <a:gd name="adj" fmla="val 1429"/>
            </a:avLst>
          </a:prstGeom>
          <a:solidFill>
            <a:srgbClr val="151D2A"/>
          </a:solidFill>
          <a:ln/>
        </p:spPr>
      </p:sp>
      <p:sp>
        <p:nvSpPr>
          <p:cNvPr id="9" name="Text 7"/>
          <p:cNvSpPr/>
          <p:nvPr/>
        </p:nvSpPr>
        <p:spPr>
          <a:xfrm>
            <a:off x="640080" y="1463040"/>
            <a:ext cx="283464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EXPLORER INTERFACE</a:t>
            </a:r>
            <a:endParaRPr lang="en-US" sz="1400" dirty="0"/>
          </a:p>
        </p:txBody>
      </p:sp>
      <p:sp>
        <p:nvSpPr>
          <p:cNvPr id="10" name="Text 8"/>
          <p:cNvSpPr/>
          <p:nvPr/>
        </p:nvSpPr>
        <p:spPr>
          <a:xfrm>
            <a:off x="640080" y="2011680"/>
            <a:ext cx="2834640" cy="3657600"/>
          </a:xfrm>
          <a:prstGeom prst="rect">
            <a:avLst/>
          </a:prstGeom>
          <a:noFill/>
          <a:ln/>
        </p:spPr>
        <p:txBody>
          <a:bodyPr wrap="square" rtlCol="0" anchor="ctr"/>
          <a:lstStyle/>
          <a:p>
            <a:pPr indent="0" marL="0">
              <a:lnSpc>
                <a:spcPts val="2200"/>
              </a:lnSpc>
              <a:buNone/>
            </a:pPr>
            <a:r>
              <a:rPr lang="en-US" sz="1200" dirty="0">
                <a:solidFill>
                  <a:srgbClr val="A0AEC0"/>
                </a:solidFill>
                <a:latin typeface="Calibri" pitchFamily="34" charset="0"/>
                <a:ea typeface="Calibri" pitchFamily="34" charset="-122"/>
                <a:cs typeface="Calibri" pitchFamily="34" charset="-120"/>
              </a:rPr>
              <a:t>The stock search results present comprehensive ticker profile data. User controls let traders pin stocks to watchlists or redirect to the buy panel to complete order templates instantly.</a:t>
            </a:r>
            <a:endParaRPr lang="en-US" sz="1200" dirty="0"/>
          </a:p>
        </p:txBody>
      </p:sp>
      <p:sp>
        <p:nvSpPr>
          <p:cNvPr id="11" name="Shape 9"/>
          <p:cNvSpPr/>
          <p:nvPr/>
        </p:nvSpPr>
        <p:spPr>
          <a:xfrm>
            <a:off x="3931920" y="1280160"/>
            <a:ext cx="7799832" cy="4663440"/>
          </a:xfrm>
          <a:prstGeom prst="roundRect">
            <a:avLst>
              <a:gd name="adj" fmla="val 980"/>
            </a:avLst>
          </a:prstGeom>
          <a:solidFill>
            <a:srgbClr val="151D2A"/>
          </a:solidFill>
          <a:ln/>
        </p:spPr>
      </p:sp>
      <p:pic>
        <p:nvPicPr>
          <p:cNvPr id="12" name="Image 0" descr="C:/Users/Sneh Patel/.gemini/antigravity/brain/a623fd9b-dba2-45f3-9a09-53f597b986c4/market_ui_mockup_1785991585198.jpg">    </p:cNvPr>
          <p:cNvPicPr>
            <a:picLocks noChangeAspect="1"/>
          </p:cNvPicPr>
          <p:nvPr/>
        </p:nvPicPr>
        <p:blipFill>
          <a:blip r:embed="rId1"/>
          <a:stretch>
            <a:fillRect/>
          </a:stretch>
        </p:blipFill>
        <p:spPr>
          <a:xfrm>
            <a:off x="4023360" y="1371600"/>
            <a:ext cx="7616952" cy="448056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CORE FEATURES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WALLET DEPOSITS &amp; RAZORPAY GATEWAY</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17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PAYMENT FLOW GATEWAY</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Secure Overlay: Loads Checkout API scripts modal securely.
</a:t>
            </a:r>
            <a:pPr indent="0" marL="0">
              <a:buNone/>
            </a:pPr>
            <a:r>
              <a:rPr lang="en-US" sz="1200" dirty="0">
                <a:solidFill>
                  <a:srgbClr val="FFFFFF"/>
                </a:solidFill>
              </a:rPr>
              <a:t>• Isolated Processing: Payments occur on remote PCI compliant servers.
</a:t>
            </a:r>
            <a:pPr indent="0" marL="0">
              <a:buNone/>
            </a:pPr>
            <a:r>
              <a:rPr lang="en-US" sz="1200" dirty="0">
                <a:solidFill>
                  <a:srgbClr val="FFFFFF"/>
                </a:solidFill>
              </a:rPr>
              <a:t>• Token Callback: Returns encrypted payment identifiers and signatures.</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SIGNATURE VERIFICATION</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Hash Matching: Server recreates HMAC-SHA256 signature using secret keys.
</a:t>
            </a:r>
            <a:pPr indent="0" marL="0">
              <a:buNone/>
            </a:pPr>
            <a:r>
              <a:rPr lang="en-US" sz="1200" dirty="0">
                <a:solidFill>
                  <a:srgbClr val="FFFFFF"/>
                </a:solidFill>
              </a:rPr>
              <a:t>• Balance Credit: Credits funds only if signature validation checks out.
</a:t>
            </a:r>
            <a:pPr indent="0" marL="0">
              <a:buNone/>
            </a:pPr>
            <a:r>
              <a:rPr lang="en-US" sz="1200" dirty="0">
                <a:solidFill>
                  <a:srgbClr val="FFFFFF"/>
                </a:solidFill>
              </a:rPr>
              <a:t>• Ledger Insertion: Replications of payment transactions saved to database ledger.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CORE FEATURES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AUDITABLE TRANSACTION LEDGER</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18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LEDGER ARCHITECTURE</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Immutable Log: Tracks user transactions including buys, sells, deposits.
</a:t>
            </a:r>
            <a:pPr indent="0" marL="0">
              <a:buNone/>
            </a:pPr>
            <a:r>
              <a:rPr lang="en-US" sz="1200" dirty="0">
                <a:solidFill>
                  <a:srgbClr val="FFFFFF"/>
                </a:solidFill>
              </a:rPr>
              <a:t>• Relational Links: Connects logs to users table via foreign key constraints.
</a:t>
            </a:r>
            <a:pPr indent="0" marL="0">
              <a:buNone/>
            </a:pPr>
            <a:r>
              <a:rPr lang="en-US" sz="1200" dirty="0">
                <a:solidFill>
                  <a:srgbClr val="FFFFFF"/>
                </a:solidFill>
              </a:rPr>
              <a:t>• Page Splits: Paginated retrieval layouts in transactionHistory.php.</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AUDIT PARAMETERS RECORDED</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Unique Transaction ID: Auto incremented primary key.
</a:t>
            </a:r>
            <a:pPr indent="0" marL="0">
              <a:buNone/>
            </a:pPr>
            <a:r>
              <a:rPr lang="en-US" sz="1200" dirty="0">
                <a:solidFill>
                  <a:srgbClr val="FFFFFF"/>
                </a:solidFill>
              </a:rPr>
              <a:t>• Payment ID: Razorpay signature verification token.
</a:t>
            </a:r>
            <a:pPr indent="0" marL="0">
              <a:buNone/>
            </a:pPr>
            <a:r>
              <a:rPr lang="en-US" sz="1200" dirty="0">
                <a:solidFill>
                  <a:srgbClr val="FFFFFF"/>
                </a:solidFill>
              </a:rPr>
              <a:t>• Volume &amp; Value: Logs quantities, buys, sales, and UTC timestamps.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PROJECT SNAPSHOT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TRANSACTION LEDGER INTERFACE</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19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3200400" cy="4663440"/>
          </a:xfrm>
          <a:prstGeom prst="roundRect">
            <a:avLst>
              <a:gd name="adj" fmla="val 1429"/>
            </a:avLst>
          </a:prstGeom>
          <a:solidFill>
            <a:srgbClr val="151D2A"/>
          </a:solidFill>
          <a:ln/>
        </p:spPr>
      </p:sp>
      <p:sp>
        <p:nvSpPr>
          <p:cNvPr id="9" name="Text 7"/>
          <p:cNvSpPr/>
          <p:nvPr/>
        </p:nvSpPr>
        <p:spPr>
          <a:xfrm>
            <a:off x="640080" y="1463040"/>
            <a:ext cx="283464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LEDGER INTERFACE</a:t>
            </a:r>
            <a:endParaRPr lang="en-US" sz="1400" dirty="0"/>
          </a:p>
        </p:txBody>
      </p:sp>
      <p:sp>
        <p:nvSpPr>
          <p:cNvPr id="10" name="Text 8"/>
          <p:cNvSpPr/>
          <p:nvPr/>
        </p:nvSpPr>
        <p:spPr>
          <a:xfrm>
            <a:off x="640080" y="2011680"/>
            <a:ext cx="2834640" cy="3657600"/>
          </a:xfrm>
          <a:prstGeom prst="rect">
            <a:avLst/>
          </a:prstGeom>
          <a:noFill/>
          <a:ln/>
        </p:spPr>
        <p:txBody>
          <a:bodyPr wrap="square" rtlCol="0" anchor="ctr"/>
          <a:lstStyle/>
          <a:p>
            <a:pPr indent="0" marL="0">
              <a:lnSpc>
                <a:spcPts val="2200"/>
              </a:lnSpc>
              <a:buNone/>
            </a:pPr>
            <a:r>
              <a:rPr lang="en-US" sz="1200" dirty="0">
                <a:solidFill>
                  <a:srgbClr val="A0AEC0"/>
                </a:solidFill>
                <a:latin typeface="Calibri" pitchFamily="34" charset="0"/>
                <a:ea typeface="Calibri" pitchFamily="34" charset="-122"/>
                <a:cs typeface="Calibri" pitchFamily="34" charset="-120"/>
              </a:rPr>
              <a:t>The audit screen renders clean tabular views. Differentiates credit additions from debit transactions using green and red highlights. Displays payment references and UTC timestamps.</a:t>
            </a:r>
            <a:endParaRPr lang="en-US" sz="1200" dirty="0"/>
          </a:p>
        </p:txBody>
      </p:sp>
      <p:sp>
        <p:nvSpPr>
          <p:cNvPr id="11" name="Shape 9"/>
          <p:cNvSpPr/>
          <p:nvPr/>
        </p:nvSpPr>
        <p:spPr>
          <a:xfrm>
            <a:off x="3931920" y="1280160"/>
            <a:ext cx="7799832" cy="4663440"/>
          </a:xfrm>
          <a:prstGeom prst="roundRect">
            <a:avLst>
              <a:gd name="adj" fmla="val 980"/>
            </a:avLst>
          </a:prstGeom>
          <a:solidFill>
            <a:srgbClr val="151D2A"/>
          </a:solidFill>
          <a:ln/>
        </p:spPr>
      </p:sp>
      <p:pic>
        <p:nvPicPr>
          <p:cNvPr id="12" name="Image 0" descr="C:/Users/Sneh Patel/.gemini/antigravity/brain/a623fd9b-dba2-45f3-9a09-53f597b986c4/ledger_ui_mockup_1785991596963.jpg">    </p:cNvPr>
          <p:cNvPicPr>
            <a:picLocks noChangeAspect="1"/>
          </p:cNvPicPr>
          <p:nvPr/>
        </p:nvPicPr>
        <p:blipFill>
          <a:blip r:embed="rId1"/>
          <a:stretch>
            <a:fillRect/>
          </a:stretch>
        </p:blipFill>
        <p:spPr>
          <a:xfrm>
            <a:off x="4023360" y="1371600"/>
            <a:ext cx="7616952" cy="448056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SECURITY HARDENING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APPLICATION LEVEL PROTECTIONS</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20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SQL INJECTION PREVENTION</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Explicit Bindings: Queries utilize parameter bindings explicitly.
</a:t>
            </a:r>
            <a:pPr indent="0" marL="0">
              <a:buNone/>
            </a:pPr>
            <a:r>
              <a:rPr lang="en-US" sz="1200" dirty="0">
                <a:solidFill>
                  <a:srgbClr val="FFFFFF"/>
                </a:solidFill>
              </a:rPr>
              <a:t>• Isolation: Strips user inputs from core SQL templates.
</a:t>
            </a:r>
            <a:pPr indent="0" marL="0">
              <a:buNone/>
            </a:pPr>
            <a:r>
              <a:rPr lang="en-US" sz="1200" dirty="0">
                <a:solidFill>
                  <a:srgbClr val="FFFFFF"/>
                </a:solidFill>
              </a:rPr>
              <a:t>• Sanitization: Filters form parameters before database executions.</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SESSION PROTECTION</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Validation: Active state checking present in layouts.
</a:t>
            </a:r>
            <a:pPr indent="0" marL="0">
              <a:buNone/>
            </a:pPr>
            <a:r>
              <a:rPr lang="en-US" sz="1200" dirty="0">
                <a:solidFill>
                  <a:srgbClr val="FFFFFF"/>
                </a:solidFill>
              </a:rPr>
              <a:t>• Role Restrictions: Separates standard users from administrator dashboard paths.
</a:t>
            </a:r>
            <a:pPr indent="0" marL="0">
              <a:buNone/>
            </a:pPr>
            <a:r>
              <a:rPr lang="en-US" sz="1200" dirty="0">
                <a:solidFill>
                  <a:srgbClr val="FFFFFF"/>
                </a:solidFill>
              </a:rPr>
              <a:t>• Absolute Terminations: signOut.php invalidates server session caches.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SECURITY HARDENING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SERVER LEVEL &amp; HTTP HEADERS</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21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APACHE HTACCESS CONFIGURATION</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SSL Enforcement: Rewrites URL parameters, mapping HTTP requests to HTTPS.
</a:t>
            </a:r>
            <a:pPr indent="0" marL="0">
              <a:buNone/>
            </a:pPr>
            <a:r>
              <a:rPr lang="en-US" sz="1200" dirty="0">
                <a:solidFill>
                  <a:srgbClr val="FFFFFF"/>
                </a:solidFill>
              </a:rPr>
              <a:t>• Directory Protection: Option flags deny directory listing attempts.
</a:t>
            </a:r>
            <a:pPr indent="0" marL="0">
              <a:buNone/>
            </a:pPr>
            <a:r>
              <a:rPr lang="en-US" sz="1200" dirty="0">
                <a:solidFill>
                  <a:srgbClr val="FFFFFF"/>
                </a:solidFill>
              </a:rPr>
              <a:t>• File Hiding: Restricts client requests to sensitive config templates (.env).</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HTTP DEFENSIVE HEADERS</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X-Frame-Options: Set to DENY to stop clickjacking attacks.
</a:t>
            </a:r>
            <a:pPr indent="0" marL="0">
              <a:buNone/>
            </a:pPr>
            <a:r>
              <a:rPr lang="en-US" sz="1200" dirty="0">
                <a:solidFill>
                  <a:srgbClr val="FFFFFF"/>
                </a:solidFill>
              </a:rPr>
              <a:t>• X-Content-Type-Options: nosniff flag prevents MIME sniffing.
</a:t>
            </a:r>
            <a:pPr indent="0" marL="0">
              <a:buNone/>
            </a:pPr>
            <a:r>
              <a:rPr lang="en-US" sz="1200" dirty="0">
                <a:solidFill>
                  <a:srgbClr val="FFFFFF"/>
                </a:solidFill>
              </a:rPr>
              <a:t>• Strict Transport Security: Enforces SSL duration targets.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SECURITY HARDENING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ERROR DISCLOSURES &amp; LOGS CONTROLS</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22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DISCLOSURE MITIGATION</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Suppressing Output: display_errors variable disabled in production config files.
</a:t>
            </a:r>
            <a:pPr indent="0" marL="0">
              <a:buNone/>
            </a:pPr>
            <a:r>
              <a:rPr lang="en-US" sz="1200" dirty="0">
                <a:solidFill>
                  <a:srgbClr val="FFFFFF"/>
                </a:solidFill>
              </a:rPr>
              <a:t>• Code Shielding: Suppresses stack trace outputs from rendering on client screens.
</a:t>
            </a:r>
            <a:pPr indent="0" marL="0">
              <a:buNone/>
            </a:pPr>
            <a:r>
              <a:rPr lang="en-US" sz="1200" dirty="0">
                <a:solidFill>
                  <a:srgbClr val="FFFFFF"/>
                </a:solidFill>
              </a:rPr>
              <a:t>• Safe Error Messages: Employs generic error boxes for connection drops.</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LOG STORAGE MANAGEMENT</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Secure Location: Outputs error parameters into logs/ directory.
</a:t>
            </a:r>
            <a:pPr indent="0" marL="0">
              <a:buNone/>
            </a:pPr>
            <a:r>
              <a:rPr lang="en-US" sz="1200" dirty="0">
                <a:solidFill>
                  <a:srgbClr val="FFFFFF"/>
                </a:solidFill>
              </a:rPr>
              <a:t>• Safe Access: Logs directories locked down using custom rules.
</a:t>
            </a:r>
            <a:pPr indent="0" marL="0">
              <a:buNone/>
            </a:pPr>
            <a:r>
              <a:rPr lang="en-US" sz="1200" dirty="0">
                <a:solidFill>
                  <a:srgbClr val="FFFFFF"/>
                </a:solidFill>
              </a:rPr>
              <a:t>• Excluded files: Excluded from repositories to keep configs safe.</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ARCHITECTURE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DATABASE RELATIONAL SCHEMA MAPS</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23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CORE ACCOUNT TABLES</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users: PK id, name, PANCARD, mobile numbers, Bcrypt passwords, roles, available balances.
</a:t>
            </a:r>
            <a:pPr indent="0" marL="0">
              <a:buNone/>
            </a:pPr>
            <a:r>
              <a:rPr lang="en-US" sz="1200" dirty="0">
                <a:solidFill>
                  <a:srgbClr val="FFFFFF"/>
                </a:solidFill>
              </a:rPr>
              <a:t>• stock_details: PK id, user_id (FK -&gt; users.id), symbols, holdings quantity, average purchase prices.
</a:t>
            </a:r>
            <a:pPr indent="0" marL="0">
              <a:buNone/>
            </a:pPr>
            <a:r>
              <a:rPr lang="en-US" sz="1200" dirty="0">
                <a:solidFill>
                  <a:srgbClr val="FFFFFF"/>
                </a:solidFill>
              </a:rPr>
              <a:t>• watchlists: Pinned stock profiles linked to users.</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LEDGER &amp; ALERTS TABLES</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users_transaction: PK id, user_id (FK -&gt; users.id), credit, debit values, payment_id references, descriptions.
</a:t>
            </a:r>
            <a:pPr indent="0" marL="0">
              <a:buNone/>
            </a:pPr>
            <a:r>
              <a:rPr lang="en-US" sz="1200" dirty="0">
                <a:solidFill>
                  <a:srgbClr val="FFFFFF"/>
                </a:solidFill>
              </a:rPr>
              <a:t>• notifications: System alerts log table mapping details to users (id, user_id, title, messages, is_read, timestamps).</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DEVOPS &amp; CLOUD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DOCKER CONTAINERIZATION LAYOUTS</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24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DOCKER ENVIRONMENT DESIGN</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Base Image: PHP 8.2 with Apache core web engine.
</a:t>
            </a:r>
            <a:pPr indent="0" marL="0">
              <a:buNone/>
            </a:pPr>
            <a:r>
              <a:rPr lang="en-US" sz="1200" dirty="0">
                <a:solidFill>
                  <a:srgbClr val="FFFFFF"/>
                </a:solidFill>
              </a:rPr>
              <a:t>• Modules: Configures rewrite capabilities and pdo_mysql drivers.
</a:t>
            </a:r>
            <a:pPr indent="0" marL="0">
              <a:buNone/>
            </a:pPr>
            <a:r>
              <a:rPr lang="en-US" sz="1200" dirty="0">
                <a:solidFill>
                  <a:srgbClr val="FFFFFF"/>
                </a:solidFill>
              </a:rPr>
              <a:t>• Folders setup: Automatic folder structures for outputs, mapping secure permissions.</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OPERATIONAL BENEFITS</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Consistency: Avoids runtime conflicts between team development platforms.
</a:t>
            </a:r>
            <a:pPr indent="0" marL="0">
              <a:buNone/>
            </a:pPr>
            <a:r>
              <a:rPr lang="en-US" sz="1200" dirty="0">
                <a:solidFill>
                  <a:srgbClr val="FFFFFF"/>
                </a:solidFill>
              </a:rPr>
              <a:t>• Isolation: Restricts server dependencies from local systems directories.
</a:t>
            </a:r>
            <a:pPr indent="0" marL="0">
              <a:buNone/>
            </a:pPr>
            <a:r>
              <a:rPr lang="en-US" sz="1200" dirty="0">
                <a:solidFill>
                  <a:srgbClr val="FFFFFF"/>
                </a:solidFill>
              </a:rPr>
              <a:t>• Deployment readiness: The exact same container runs locally and in the cloud environment.</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A"/>
        </a:solidFill>
      </p:bgPr>
    </p:bg>
    <p:spTree>
      <p:nvGrpSpPr>
        <p:cNvPr id="1" name=""/>
        <p:cNvGrpSpPr/>
        <p:nvPr/>
      </p:nvGrpSpPr>
      <p:grpSpPr>
        <a:xfrm>
          <a:off x="0" y="0"/>
          <a:ext cx="0" cy="0"/>
          <a:chOff x="0" y="0"/>
          <a:chExt cx="0" cy="0"/>
        </a:xfrm>
      </p:grpSpPr>
      <p:sp>
        <p:nvSpPr>
          <p:cNvPr id="2" name="Shape 0"/>
          <p:cNvSpPr/>
          <p:nvPr/>
        </p:nvSpPr>
        <p:spPr>
          <a:xfrm>
            <a:off x="457200" y="274320"/>
            <a:ext cx="11274552" cy="822960"/>
          </a:xfrm>
          <a:prstGeom prst="roundRect">
            <a:avLst>
              <a:gd name="adj" fmla="val 11111"/>
            </a:avLst>
          </a:prstGeom>
          <a:solidFill>
            <a:srgbClr val="1B2230"/>
          </a:solidFill>
          <a:ln w="12700">
            <a:solidFill>
              <a:srgbClr val="3182CE"/>
            </a:solidFill>
            <a:prstDash val="solid"/>
          </a:ln>
        </p:spPr>
      </p:sp>
      <p:sp>
        <p:nvSpPr>
          <p:cNvPr id="3" name="Text 1"/>
          <p:cNvSpPr/>
          <p:nvPr/>
        </p:nvSpPr>
        <p:spPr>
          <a:xfrm>
            <a:off x="640080" y="320040"/>
            <a:ext cx="10881360" cy="228600"/>
          </a:xfrm>
          <a:prstGeom prst="rect">
            <a:avLst/>
          </a:prstGeom>
          <a:noFill/>
          <a:ln/>
        </p:spPr>
        <p:txBody>
          <a:bodyPr wrap="square" rtlCol="0" anchor="ctr"/>
          <a:lstStyle/>
          <a:p>
            <a:pPr indent="0" marL="0">
              <a:buNone/>
            </a:pPr>
            <a:r>
              <a:rPr lang="en-US" sz="1000" b="1" dirty="0">
                <a:solidFill>
                  <a:srgbClr val="3182CE"/>
                </a:solidFill>
                <a:latin typeface="Calibri" pitchFamily="34" charset="0"/>
                <a:ea typeface="Calibri" pitchFamily="34" charset="-122"/>
                <a:cs typeface="Calibri" pitchFamily="34" charset="-120"/>
              </a:rPr>
              <a:t>DEVOPS &amp; CLOUD  |  SYSTEM DOCUMENTATION</a:t>
            </a:r>
            <a:endParaRPr lang="en-US" sz="1000" dirty="0"/>
          </a:p>
        </p:txBody>
      </p:sp>
      <p:sp>
        <p:nvSpPr>
          <p:cNvPr id="4" name="Text 2"/>
          <p:cNvSpPr/>
          <p:nvPr/>
        </p:nvSpPr>
        <p:spPr>
          <a:xfrm>
            <a:off x="640080" y="530352"/>
            <a:ext cx="10881360" cy="50292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CLOUD DEPLOYMENTS &amp; FUTURE ROADMAP</a:t>
            </a:r>
            <a:endParaRPr lang="en-US" sz="2200" dirty="0"/>
          </a:p>
        </p:txBody>
      </p:sp>
      <p:sp>
        <p:nvSpPr>
          <p:cNvPr id="5" name="Shape 3"/>
          <p:cNvSpPr/>
          <p:nvPr/>
        </p:nvSpPr>
        <p:spPr>
          <a:xfrm>
            <a:off x="457200" y="6217920"/>
            <a:ext cx="11274552" cy="320040"/>
          </a:xfrm>
          <a:prstGeom prst="rect">
            <a:avLst/>
          </a:prstGeom>
          <a:solidFill>
            <a:srgbClr val="1B2230"/>
          </a:solidFill>
          <a:ln/>
        </p:spPr>
      </p:sp>
      <p:sp>
        <p:nvSpPr>
          <p:cNvPr id="6" name="Text 4"/>
          <p:cNvSpPr/>
          <p:nvPr/>
        </p:nvSpPr>
        <p:spPr>
          <a:xfrm>
            <a:off x="640080" y="6236208"/>
            <a:ext cx="5486400" cy="274320"/>
          </a:xfrm>
          <a:prstGeom prst="rect">
            <a:avLst/>
          </a:prstGeom>
          <a:noFill/>
          <a:ln/>
        </p:spPr>
        <p:txBody>
          <a:bodyPr wrap="square" rtlCol="0" anchor="ctr"/>
          <a:lstStyle/>
          <a:p>
            <a:pPr indent="0" marL="0">
              <a:buNone/>
            </a:pPr>
            <a:r>
              <a:rPr lang="en-US" sz="800" dirty="0">
                <a:solidFill>
                  <a:srgbClr val="A0AEC0"/>
                </a:solidFill>
                <a:latin typeface="Calibri" pitchFamily="34" charset="0"/>
                <a:ea typeface="Calibri" pitchFamily="34" charset="-122"/>
                <a:cs typeface="Calibri" pitchFamily="34" charset="-120"/>
              </a:rPr>
              <a:t>STOCK MARKET APP PRESENTATION   •   PAGE 25 OF 25</a:t>
            </a:r>
            <a:endParaRPr lang="en-US" sz="800" dirty="0"/>
          </a:p>
        </p:txBody>
      </p:sp>
      <p:sp>
        <p:nvSpPr>
          <p:cNvPr id="7" name="Text 5"/>
          <p:cNvSpPr/>
          <p:nvPr/>
        </p:nvSpPr>
        <p:spPr>
          <a:xfrm>
            <a:off x="6126480" y="6236208"/>
            <a:ext cx="5394960" cy="274320"/>
          </a:xfrm>
          <a:prstGeom prst="rect">
            <a:avLst/>
          </a:prstGeom>
          <a:noFill/>
          <a:ln/>
        </p:spPr>
        <p:txBody>
          <a:bodyPr wrap="square" rtlCol="0" anchor="ctr"/>
          <a:lstStyle/>
          <a:p>
            <a:pPr algn="r" indent="0" marL="0">
              <a:buNone/>
            </a:pPr>
            <a:r>
              <a:rPr lang="en-US" sz="800" dirty="0">
                <a:solidFill>
                  <a:srgbClr val="3182CE"/>
                </a:solidFill>
                <a:latin typeface="Calibri" pitchFamily="34" charset="0"/>
                <a:ea typeface="Calibri" pitchFamily="34" charset="-122"/>
                <a:cs typeface="Calibri" pitchFamily="34" charset="-120"/>
              </a:rPr>
              <a:t>CONFIDENTIAL - INTENDED FOR REVIEW</a:t>
            </a:r>
            <a:endParaRPr lang="en-US" sz="800" dirty="0"/>
          </a:p>
        </p:txBody>
      </p:sp>
      <p:sp>
        <p:nvSpPr>
          <p:cNvPr id="8" name="Shape 6"/>
          <p:cNvSpPr/>
          <p:nvPr/>
        </p:nvSpPr>
        <p:spPr>
          <a:xfrm>
            <a:off x="457200" y="1280160"/>
            <a:ext cx="5394960" cy="4663440"/>
          </a:xfrm>
          <a:prstGeom prst="roundRect">
            <a:avLst>
              <a:gd name="adj" fmla="val 980"/>
            </a:avLst>
          </a:prstGeom>
          <a:solidFill>
            <a:srgbClr val="151D2A"/>
          </a:solidFill>
          <a:ln/>
        </p:spPr>
      </p:sp>
      <p:sp>
        <p:nvSpPr>
          <p:cNvPr id="9" name="Text 7"/>
          <p:cNvSpPr/>
          <p:nvPr/>
        </p:nvSpPr>
        <p:spPr>
          <a:xfrm>
            <a:off x="731520"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RENDER PAAS ARCHITECTURE</a:t>
            </a:r>
            <a:endParaRPr lang="en-US" sz="1400" dirty="0"/>
          </a:p>
        </p:txBody>
      </p:sp>
      <p:sp>
        <p:nvSpPr>
          <p:cNvPr id="10" name="Text 8"/>
          <p:cNvSpPr/>
          <p:nvPr/>
        </p:nvSpPr>
        <p:spPr>
          <a:xfrm>
            <a:off x="731520" y="1920240"/>
            <a:ext cx="4846320" cy="3657600"/>
          </a:xfrm>
          <a:prstGeom prst="rect">
            <a:avLst/>
          </a:prstGeom>
          <a:noFill/>
          <a:ln/>
        </p:spPr>
        <p:txBody>
          <a:bodyPr wrap="square" rtlCol="0" anchor="ctr"/>
          <a:lstStyle/>
          <a:p>
            <a:pPr indent="0" marL="0">
              <a:buNone/>
            </a:pPr>
            <a:r>
              <a:rPr lang="en-US" sz="1200" dirty="0">
                <a:solidFill>
                  <a:srgbClr val="FFFFFF"/>
                </a:solidFill>
              </a:rPr>
              <a:t>• Automated builds: Every push triggers clean container rebuilds.
</a:t>
            </a:r>
            <a:pPr indent="0" marL="0">
              <a:buNone/>
            </a:pPr>
            <a:r>
              <a:rPr lang="en-US" sz="1200" dirty="0">
                <a:solidFill>
                  <a:srgbClr val="FFFFFF"/>
                </a:solidFill>
              </a:rPr>
              <a:t>• Hot Swapping: Zero downtime hot swap configurations.
</a:t>
            </a:r>
            <a:pPr indent="0" marL="0">
              <a:buNone/>
            </a:pPr>
            <a:r>
              <a:rPr lang="en-US" sz="1200" dirty="0">
                <a:solidFill>
                  <a:srgbClr val="FFFFFF"/>
                </a:solidFill>
              </a:rPr>
              <a:t>• Secret Managers: Injection of keys via environment settings variables.</a:t>
            </a:r>
            <a:endParaRPr lang="en-US" sz="1200" dirty="0"/>
          </a:p>
        </p:txBody>
      </p:sp>
      <p:sp>
        <p:nvSpPr>
          <p:cNvPr id="11" name="Shape 9"/>
          <p:cNvSpPr/>
          <p:nvPr/>
        </p:nvSpPr>
        <p:spPr>
          <a:xfrm>
            <a:off x="6336792" y="1280160"/>
            <a:ext cx="5394960" cy="4663440"/>
          </a:xfrm>
          <a:prstGeom prst="roundRect">
            <a:avLst>
              <a:gd name="adj" fmla="val 980"/>
            </a:avLst>
          </a:prstGeom>
          <a:solidFill>
            <a:srgbClr val="151D2A"/>
          </a:solidFill>
          <a:ln/>
        </p:spPr>
      </p:sp>
      <p:sp>
        <p:nvSpPr>
          <p:cNvPr id="12" name="Text 10"/>
          <p:cNvSpPr/>
          <p:nvPr/>
        </p:nvSpPr>
        <p:spPr>
          <a:xfrm>
            <a:off x="6611112" y="1463040"/>
            <a:ext cx="4846320" cy="365760"/>
          </a:xfrm>
          <a:prstGeom prst="rect">
            <a:avLst/>
          </a:prstGeom>
          <a:noFill/>
          <a:ln/>
        </p:spPr>
        <p:txBody>
          <a:bodyPr wrap="square" rtlCol="0" anchor="ctr"/>
          <a:lstStyle/>
          <a:p>
            <a:pPr indent="0" marL="0">
              <a:buNone/>
            </a:pPr>
            <a:r>
              <a:rPr lang="en-US" sz="1400" b="1" dirty="0">
                <a:solidFill>
                  <a:srgbClr val="3182CE"/>
                </a:solidFill>
                <a:latin typeface="Calibri" pitchFamily="34" charset="0"/>
                <a:ea typeface="Calibri" pitchFamily="34" charset="-122"/>
                <a:cs typeface="Calibri" pitchFamily="34" charset="-120"/>
              </a:rPr>
              <a:t>FUTURE SYSTEM ROADMAP</a:t>
            </a:r>
            <a:endParaRPr lang="en-US" sz="1400" dirty="0"/>
          </a:p>
        </p:txBody>
      </p:sp>
      <p:sp>
        <p:nvSpPr>
          <p:cNvPr id="13" name="Text 11"/>
          <p:cNvSpPr/>
          <p:nvPr/>
        </p:nvSpPr>
        <p:spPr>
          <a:xfrm>
            <a:off x="6611112" y="1920240"/>
            <a:ext cx="4846320" cy="3657600"/>
          </a:xfrm>
          <a:prstGeom prst="rect">
            <a:avLst/>
          </a:prstGeom>
          <a:noFill/>
          <a:ln/>
        </p:spPr>
        <p:txBody>
          <a:bodyPr wrap="square" rtlCol="0" anchor="ctr"/>
          <a:lstStyle/>
          <a:p>
            <a:pPr indent="0" marL="0">
              <a:buNone/>
            </a:pPr>
            <a:r>
              <a:rPr lang="en-US" sz="1200" dirty="0">
                <a:solidFill>
                  <a:srgbClr val="FFFFFF"/>
                </a:solidFill>
              </a:rPr>
              <a:t>• Live Charts: WebSockets replacing REST API polling.
</a:t>
            </a:r>
            <a:pPr indent="0" marL="0">
              <a:buNone/>
            </a:pPr>
            <a:r>
              <a:rPr lang="en-US" sz="1200" dirty="0">
                <a:solidFill>
                  <a:srgbClr val="FFFFFF"/>
                </a:solidFill>
              </a:rPr>
              <a:t>• Advanced Ordering: Stop-loss order automation.
</a:t>
            </a:r>
            <a:pPr indent="0" marL="0">
              <a:buNone/>
            </a:pPr>
            <a:r>
              <a:rPr lang="en-US" sz="1200" dirty="0">
                <a:solidFill>
                  <a:srgbClr val="FFFFFF"/>
                </a:solidFill>
              </a:rPr>
              <a:t>• Auto Trading: Indicators and machine learning advisors.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2026-08-06T04:47:48Z</dcterms:created>
  <dcterms:modified xsi:type="dcterms:W3CDTF">2026-08-06T04:47:48Z</dcterms:modified>
</cp:coreProperties>
</file>