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4846320"/>
            <a:ext cx="914400" cy="201168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4" name="Shape 2"/>
          <p:cNvSpPr/>
          <p:nvPr/>
        </p:nvSpPr>
        <p:spPr>
          <a:xfrm>
            <a:off x="182880" y="182880"/>
            <a:ext cx="1828800" cy="9144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" y="182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Parul</a:t>
            </a:r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®
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University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011680" y="182880"/>
            <a:ext cx="2286000" cy="914400"/>
          </a:xfrm>
          <a:prstGeom prst="rect">
            <a:avLst/>
          </a:prstGeom>
          <a:solidFill>
            <a:srgbClr val="FFCC00"/>
          </a:solidFill>
          <a:ln/>
        </p:spPr>
      </p:sp>
      <p:sp>
        <p:nvSpPr>
          <p:cNvPr id="7" name="Text 5"/>
          <p:cNvSpPr/>
          <p:nvPr/>
        </p:nvSpPr>
        <p:spPr>
          <a:xfrm>
            <a:off x="2103120" y="2743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NAAC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103120" y="640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0000"/>
                </a:solidFill>
              </a:rPr>
              <a:t>ACCREDITED UNIVERSITY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3474720" y="274320"/>
            <a:ext cx="731520" cy="731520"/>
          </a:xfrm>
          <a:prstGeom prst="ellipse">
            <a:avLst/>
          </a:prstGeom>
          <a:solidFill>
            <a:srgbClr val="B31F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274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A++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1645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PRESENTATION 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914400" y="2194560"/>
            <a:ext cx="7315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INDIAN STOCK MARKET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TRADING PLATFORM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(NSE &amp; BSE)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" y="4389120"/>
            <a:ext cx="4114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31F24"/>
                </a:solidFill>
              </a:rPr>
              <a:t>PRESENTED BY :
</a:t>
            </a:r>
            <a:pPr indent="0" marL="0">
              <a:buNone/>
            </a:pPr>
            <a:r>
              <a:rPr lang="en-US" sz="1400" b="1" dirty="0">
                <a:solidFill>
                  <a:srgbClr val="B31F24"/>
                </a:solidFill>
              </a:rPr>
              <a:t>SNEH PATEL (160303108001)
</a:t>
            </a:r>
            <a:pPr indent="0" marL="0">
              <a:buNone/>
            </a:pPr>
            <a:r>
              <a:rPr lang="en-US" sz="1400" b="1" dirty="0">
                <a:solidFill>
                  <a:srgbClr val="B31F24"/>
                </a:solidFill>
              </a:rPr>
              <a:t>STUDENT 2 (160303108002)
</a:t>
            </a:r>
            <a:pPr indent="0" marL="0">
              <a:buNone/>
            </a:pPr>
            <a:r>
              <a:rPr lang="en-US" sz="1400" b="1" dirty="0">
                <a:solidFill>
                  <a:srgbClr val="B31F24"/>
                </a:solidFill>
              </a:rPr>
              <a:t>STUDENT 3 (150303108003)
</a:t>
            </a:r>
            <a:pPr indent="0" marL="0">
              <a:buNone/>
            </a:pPr>
            <a:r>
              <a:rPr lang="en-US" sz="1400" b="1" dirty="0">
                <a:solidFill>
                  <a:srgbClr val="B31F24"/>
                </a:solidFill>
              </a:rPr>
              <a:t>STUDENT 4 (150303108004)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0" y="438912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31F24"/>
                </a:solidFill>
              </a:rPr>
              <a:t>UNDER GUIDANCE OF :
</a:t>
            </a:r>
            <a:pPr indent="0" marL="0">
              <a:buNone/>
            </a:pPr>
            <a:r>
              <a:rPr lang="en-US" sz="1400" b="1" dirty="0">
                <a:solidFill>
                  <a:srgbClr val="B31F24"/>
                </a:solidFill>
              </a:rPr>
              <a:t>NAME OF MENTOR
</a:t>
            </a:r>
            <a:pPr indent="0" marL="0">
              <a:buNone/>
            </a:pPr>
            <a:r>
              <a:rPr lang="en-US" sz="1400" b="1" dirty="0">
                <a:solidFill>
                  <a:srgbClr val="B31F24"/>
                </a:solidFill>
              </a:rPr>
              <a:t>ASSISTANT PROFESSOR
</a:t>
            </a:r>
            <a:pPr indent="0" marL="0">
              <a:buNone/>
            </a:pPr>
            <a:r>
              <a:rPr lang="en-US" sz="1400" b="1" dirty="0">
                <a:solidFill>
                  <a:srgbClr val="B31F24"/>
                </a:solidFill>
              </a:rPr>
              <a:t>(IT DEPARTMENT)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315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31F24"/>
                </a:solidFill>
              </a:rPr>
              <a:t>OUTLINE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554480"/>
            <a:ext cx="73152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⮚  Introduction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⮚  Motivation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⮚  Aim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⮚  Application/s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⮚  Literature Survey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⮚  Research Gap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⮚  Objectives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⮚  Methodology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⮚  Existing Work Flow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⮚  Proposed Work Flow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⮚  Implementation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⮚  Conclusion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⮚  References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3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315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31F24"/>
                </a:solidFill>
              </a:rPr>
              <a:t>INTRODUCTION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8046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Indian Stock Market Focus: A full-stack, production-grade trading simulator designed specifically for Indian stock listings on the National Stock Exchange (NSE) and Bombay Stock Exchange (BSE).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Rupee-Based System: Implements strict Indian Rupee (₹) formatting across indices, stock profiles, balances, portfolio tracking, and order ticket estimations.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Modern Command Center UI: Combines a glassmorphism dashboard layout with high-fidelity candlestick charts, indicators, and a live bid-ask order depth book.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Flexible Deployment: Offers two implementation avenues—a modern Single Page Application (React + Express + MongoDB) and a traditional platform (PHP + MySQL + Apache).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4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315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31F24"/>
                </a:solidFill>
              </a:rPr>
              <a:t>MOTIVATION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8046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Rising Retail Trading: With the rapid growth of demat accounts in India (10 crore+), retail investors need a reliable and safe learning platform.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Pre-Trade Fee Awareness: Novice traders often lose money because they do not understand transaction drag. Simulating taxes like STT, GST, and Stamp Duty prevents surprises in live trading.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Risk-Free Sandbox Environment: Enables investors and students to experiment with multiple trading techniques without risking actual capital.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AI Portfolio Health Checks: Integrates intelligent automated recommendations, bridging the gap between basic trackers and professional advisory tools.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315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31F24"/>
                </a:solidFill>
              </a:rPr>
              <a:t>AIM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8046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Indian-Standard Simulator: Design a full-featured stock market simulator tailored to Indian market dynamics, currency structure (₹), and exchanges.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Interactive Candlestick Charts: Incorporate advanced TradingView charts with timeframe selections and technical indicators (EMA, VWAP) for analysis.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Pre-Trade Fee Calculations: Construct an engine that estimates flat brokerage (₹20), STT, GST, SEBI fees, and stamp duty on every order ticket.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Integrated Wealth Portal: Embed auxiliary tools like upcoming IPO details (with GMP, subscriptions, PAN check) and Mutual Fund SIP planning sliders.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6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315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31F24"/>
                </a:solidFill>
              </a:rPr>
              <a:t>APPLICATIONS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8046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Educational Portal: Ideal for schools, colleges, and finance academies to teach stock trading and investment fundamentals.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Strategy Sandbox: Allows retail investors to backtest swing or intra-day trading strategies with real market conditions.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Tax &amp; Expense Planning: Day-traders can analyze how statutory costs eat into their intra-day profits prior to trading in live markets.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Fintech Blueprint: Serves as a modular, secure, and production-ready skeleton for developers building commercial brokerage extensions.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7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315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31F24"/>
                </a:solidFill>
              </a:rPr>
              <a:t>LITERATURE SURVEY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8046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Comprehensive Scope: Reviews academic literature, existing simulators, and tax computation models to establish design parameters.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Analysis Domains: Evaluates studies in web application responsiveness, Markowitz portfolio risk optimization, and financial machine learning models.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Selected Papers: Details 5 key publications covering stock simulation, investment models, ML prediction, tax impact, and IPO subscription analysis.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Identified Target: Highlights the need for combining real-time local tax calculations with AI-guided portfolio checks in a single dashboard.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8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45720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31F24"/>
                </a:solidFill>
              </a:rPr>
              <a:t>PAPER 1: WEB-BASED STOCK SIMULATION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046720" cy="420624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011680"/>
                <a:gridCol w="1828800"/>
                <a:gridCol w="1645920"/>
              </a:tblGrid>
              <a:tr h="2103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Publication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and Year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Author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name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Approach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(Methodology)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Advantages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Limitations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</a:tr>
              <a:tr h="2103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IEEE Software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(2021)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R. Sharma,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S. Kumar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Developed a web-based simulator using React and Django REST framework for live stock feeds.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High responsiveness, user-friendly layout, real-time portfolio updates.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Used US stock data in USD; ignored transaction taxes and brokerage fees.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9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45720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31F24"/>
                </a:solidFill>
              </a:rPr>
              <a:t>PAPER 2: PORTFOLIO OPTIMIZATION MODELS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046720" cy="420624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011680"/>
                <a:gridCol w="1828800"/>
                <a:gridCol w="1645920"/>
              </a:tblGrid>
              <a:tr h="2103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Publication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and Year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Author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name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Approach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(Methodology)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Advantages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Limitations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</a:tr>
              <a:tr h="2103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Journal of Finance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(2020)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Dr. A. Mehta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Analyzed Markowitz Mean-Variance Optimization for retail portfolio construction.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Provides mathematical foundations for minimizing risk and maximizing return.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High mathematical complexity for beginners; does not simulate live order execution.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45720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31F24"/>
                </a:solidFill>
              </a:rPr>
              <a:t>PAPER 3: MACHINE LEARNING IN FINTECH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046720" cy="420624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011680"/>
                <a:gridCol w="1828800"/>
                <a:gridCol w="1645920"/>
              </a:tblGrid>
              <a:tr h="2103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Publication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and Year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Author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name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Approach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(Methodology)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Advantages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Limitations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</a:tr>
              <a:tr h="2103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Springer AI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(2022)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P. Gupta,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V. Rao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Proposed a sentiment analysis model using Twitter and news data for stock trend prediction.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High predictive accuracy for short-term sentiment trends.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Very high computation latency; difficult to run in standard web browsers.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11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45720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31F24"/>
                </a:solidFill>
              </a:rPr>
              <a:t>PAPER 4: STATUTORY DRAG IN DAY TRADING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046720" cy="420624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011680"/>
                <a:gridCol w="1828800"/>
                <a:gridCol w="1645920"/>
              </a:tblGrid>
              <a:tr h="2103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Publication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and Year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Author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name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Approach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(Methodology)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Advantages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Limitations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</a:tr>
              <a:tr h="2103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Indian Econ Review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(2019)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K. Iyer,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M. Das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Investigated the impact of STT, GST, and brokerage fees on retail day-traders' profitability.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Clearly demonstrates that fees are the primary source of losses in high-frequency trading.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Purely statistical and theoretical analysis; no interactive tool was developed.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12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45720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31F24"/>
                </a:solidFill>
              </a:rPr>
              <a:t>PAPER 5: IPO ALLOTMENT AND RETAIL INVESTING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046720" cy="420624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011680"/>
                <a:gridCol w="1828800"/>
                <a:gridCol w="1645920"/>
              </a:tblGrid>
              <a:tr h="2103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Publication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and Year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Author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name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Approach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(Methodology)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Advantages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Limitations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</a:tr>
              <a:tr h="2103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IJF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(2023)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S. Deshmukh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Studied retail investor behavior and subscription rates in upcoming Indian IPOs.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Identifies factors influencing Grey Market Premium (GMP) and subscription metrics.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Did not include a tool to check allotment status or verify PAN-based registrations.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13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45720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31F24"/>
                </a:solidFill>
              </a:rPr>
              <a:t>PAPER 20: AI RECOMMENDATION IN WEB TERMINALS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046720" cy="420624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011680"/>
                <a:gridCol w="1828800"/>
                <a:gridCol w="1645920"/>
              </a:tblGrid>
              <a:tr h="2103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Publication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and Year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Author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name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Approach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(Methodology)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Advantages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Limitations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</a:tr>
              <a:tr h="2103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ACM FinTech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(2023)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J. Doe,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A. Patel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Evaluated integrated AI engines inside brokerage terminal UIs for automated stock recommendations.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Improves user engagement and provides automated risk warnings.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Recommender systems were generic and did not adjust for local user portfolios.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14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315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31F24"/>
                </a:solidFill>
              </a:rPr>
              <a:t>RESEARCH GAP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8046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US-Centric Market Bias: Existing academic and commercial simulators predominantly use US stocks in USD, neglecting Indian retail investors.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Absence of Local Taxation Engine: Simulators omit Indian statutory charges (brokerage, STT, GST, Stamp duty), creating unrealistic profit metrics.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No All-in-One Wealth Solutions: Lack of unified modules combining equity trading with SIP planners, IPO checkers, and allotment status tracking.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Static UIs and Advice Deficit: Missing modern responsive visual frameworks (such as 3D charts, heatmaps) and active AI portfolio feedback.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15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315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31F24"/>
                </a:solidFill>
              </a:rPr>
              <a:t>OBJECTIVES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8046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Build Localized Terminal: Construct a high-performance 3D Glassmorphism interface for Indian equities with strict Rupee currency rules.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Integrate Advanced Charts: Embed candlestick, line, area charts with timeframe sliders and EMA/VWAP volume overlays.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Incorporate Tax Engine: Build an order execution ticket that estimates flat brokerage (₹20), STT, GST, and stamp duty before trade submission.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Develop Investment Hub: Launch an IPO hub with GMP indicators, subscription data, PAN allotment check, and an interactive SIP calculator.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Integrate AI Advisory: Add automated portfolio health checks and market sentiment gauges via database backup engines.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16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315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31F24"/>
                </a:solidFill>
              </a:rPr>
              <a:t>METHODOLOGY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8046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Core Architecture: Leverages a secure three-tier client-server-database architecture to support real-time user-data synchronization.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Frontend Layer: Programmed in React.js (ES6+) with custom CSS for 3D glassmorphism elements, Tailwind layouts, and Lucide vector icons.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Backend Services: Express.js (Node.js) server mapping modular REST endpoints (users, transactions, holdings) with JWT and bcrypt security.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Database Layer: MongoDB Atlas storing portfolios, stock tickers, and historical trades, configured with local fallback databases.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Traditional PHP Route: Local development configuration utilizing Apache, MySQL database imports, and Yahoo Finance proxy integrations.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17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315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31F24"/>
                </a:solidFill>
              </a:rPr>
              <a:t>EXISTING WORK FLOW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8046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Foreign Market API Feeds: Systems connect to global APIs, fetching data in USD, which is confusing for domestic retail learners.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Direct Wallet Deduction: Orders execute directly against simulated portfolios without computing brokerage fees or local exchange taxes.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Unresponsive Table View: Portfolios and transactions are displayed as simple, static HTML tables with no dynamic charts or analysis.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Disconnected Finance Information: Users must visit separate portals to evaluate upcoming IPOs, compute SIP wealth, or verify allotments.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18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315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31F24"/>
                </a:solidFill>
              </a:rPr>
              <a:t>PROPOSED WORK FLOW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8046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Secure Access: Users register and log in via JWT and bcrypt token security (React platform) or standard local session cookies (PHP platform).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Dashboard Exploration: View live benchmark indices (Nifty, Sensex) and explore active stock cards via responsive terminal views.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Real-Time Fee Estimation: The platform runs order details through the local tax calculator, outlining STT, GST, and brokerage on the ticket.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Ledger Check &amp; Trade Execution: The server evaluates rupee balance, processes trade execution, logs transactions, and updates holdings.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Secondary Wealth Management: Users assess portfolio growth chart projections, inspect IPO subscriptions, and get AI portfolio insights.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19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315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31F24"/>
                </a:solidFill>
              </a:rPr>
              <a:t>IMPLEMENTATION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8046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Frontend Framework: Implemented modern React modules: `Card3D.jsx` (perspective card tilts), `Donut3DChart.jsx` (asset allocation), and `MarketHeatmap3D.jsx`.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Backend REST API: Structured modular endpoints: `/api/indices` (live averages), `/api/orders` (execution logic), `/api/ai/insights`.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Database Schemas: Schema scripts for users, holdings, transactions, and stocks written for Mongoose (MongoDB) and MySQL databases.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Deployment Config: Production setup deployed to Render.com using blueprint `render.yaml` and `Procfile` for immediate multi-tier launching.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20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315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31F24"/>
                </a:solidFill>
              </a:rPr>
              <a:t>CONCLUSION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8046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Localized Simulator Accomplished: Deployed a production-ready Indian stock market trading sandbox using authentic tickers and INR currency.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Increased Tax Awareness: Successfully taught retail users the impact of trading expenses using real-time order ticket calculations.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All-in-One Fintech Terminal: Combined active stock simulation, technical charts, IPO GMP checks, PAN checkers, and SIP planning tools.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Multiple Stack Adaptability: Provided both a modern React/Express web application and a traditional local XAMPP/PHP/MySQL deployment path.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21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315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31F24"/>
                </a:solidFill>
              </a:rPr>
              <a:t>REFERENCES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8046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[1] Sharma, R., &amp; Kumar, S. (2021). "Design and Implementation of Web-Based Stock Simulator". IEEE Software, 38(4), 45-52.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[2] Mehta, A. (2020). "Portfolio Optimization Models for Retail Investors". Journal of Finance, 75(2), 112-125.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[3] Gupta, P., &amp; Rao, V. (2022). "Machine Learning and Sentiment Analysis in FinTech Systems". Springer Artificial Intelligence, 14(3), 201-218.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[4] Iyer, K., &amp; Das, M. (2019). "Impact of Statutory Taxes on Short-Term Day Trading Returns". Indian Economic Review, 54(1), 77-92.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[5] Deshmukh, S. (2023). "IPO Subscription Rates and Grey Market Premiums in Emerging Markets". Indian Journal of Finance, 17(5), 34-45.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⮚  [6] Indian Stock Market Trading Platform Production URL: https://stock-market-zgep.onrender.com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0"/>
            <a:ext cx="274320" cy="6858000"/>
          </a:xfrm>
          <a:prstGeom prst="rect">
            <a:avLst/>
          </a:prstGeom>
          <a:solidFill>
            <a:srgbClr val="B31F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8/10/2026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Title of Project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594360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31F24"/>
                </a:solidFill>
              </a:rPr>
              <a:t>22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31F24"/>
                </a:solidFill>
              </a:rPr>
              <a:t>THANK You...</a:t>
            </a:r>
            <a:endParaRPr lang="en-US" sz="6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2026-08-10T13:30:56Z</dcterms:created>
  <dcterms:modified xsi:type="dcterms:W3CDTF">2026-08-10T13:30:56Z</dcterms:modified>
</cp:coreProperties>
</file>